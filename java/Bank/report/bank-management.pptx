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11.svg" ContentType="image/svg"/>
  <Override PartName="/ppt/media/image9.svg" ContentType="image/sv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3" r:id="rId4"/>
    <p:sldMasterId id="2147483656" r:id="rId5"/>
    <p:sldMasterId id="2147483658" r:id="rId6"/>
    <p:sldMasterId id="2147483660" r:id="rId7"/>
    <p:sldMasterId id="2147483663" r:id="rId8"/>
    <p:sldMasterId id="2147483666" r:id="rId9"/>
    <p:sldMasterId id="2147483668" r:id="rId10"/>
    <p:sldMasterId id="2147483671" r:id="rId11"/>
    <p:sldMasterId id="2147483674" r:id="rId12"/>
    <p:sldMasterId id="2147483677" r:id="rId13"/>
    <p:sldMasterId id="2147483680" r:id="rId14"/>
    <p:sldMasterId id="2147483683" r:id="rId15"/>
    <p:sldMasterId id="2147483686" r:id="rId16"/>
    <p:sldMasterId id="2147483689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9144000" cy="5143500"/>
  <p:notesSz cx="7772400" cy="10058400"/>
  <p:embeddedFontLst>
    <p:embeddedFont>
      <p:font typeface="FreeSerif"/>
      <p:regular r:id="rId31"/>
      <p:bold r:id="rId32"/>
      <p:italic r:id="rId33"/>
      <p:boldItalic r:id="rId34"/>
    </p:embeddedFont>
    <p:embeddedFont>
      <p:font typeface="Noto Sans"/>
      <p:regular r:id="rId35"/>
      <p:bold r:id="rId36"/>
      <p:italic r:id="rId37"/>
      <p:boldItalic r:id="rId38"/>
    </p:embeddedFont>
    <p:embeddedFont>
      <p:font typeface="Calibri Light"/>
    </p:embeddedFont>
    <p:embeddedFont>
      <p:font typeface="Inter Bold"/>
    </p:embeddedFont>
    <p:embeddedFont>
      <p:font typeface="Inter"/>
      <p:regular r:id="rId39"/>
      <p:bold r:id="rId40"/>
      <p:italic r:id="rId41"/>
      <p:boldItalic r:id="rId41"/>
    </p:embeddedFont>
    <p:embeddedFont>
      <p:font typeface="FreeSans"/>
      <p:regular r:id="rId42"/>
      <p:bold r:id="rId4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font" Target="fonts/Font_1_FreeSerif_Regular.fntdata"/><Relationship Id="rId32" Type="http://schemas.openxmlformats.org/officeDocument/2006/relationships/font" Target="fonts/Font_2_FreeSerif_Bold.fntdata"/><Relationship Id="rId33" Type="http://schemas.openxmlformats.org/officeDocument/2006/relationships/font" Target="fonts/Font_3_FreeSerif_Italic.fntdata"/><Relationship Id="rId34" Type="http://schemas.openxmlformats.org/officeDocument/2006/relationships/font" Target="fonts/Font_4_FreeSerif_BoldItalic.fntdata"/><Relationship Id="rId35" Type="http://schemas.openxmlformats.org/officeDocument/2006/relationships/font" Target="fonts/Font_5_Noto_Sans_Regular.fntdata"/><Relationship Id="rId36" Type="http://schemas.openxmlformats.org/officeDocument/2006/relationships/font" Target="fonts/Font_6_Noto_Sans_Bold.fntdata"/><Relationship Id="rId37" Type="http://schemas.openxmlformats.org/officeDocument/2006/relationships/font" Target="fonts/Font_7_Noto_Sans_Italic.fntdata"/><Relationship Id="rId38" Type="http://schemas.openxmlformats.org/officeDocument/2006/relationships/font" Target="fonts/Font_8_Noto_Sans_BoldItalic.fntdata"/><Relationship Id="rId39" Type="http://schemas.openxmlformats.org/officeDocument/2006/relationships/font" Target="fonts/Font_9_Inter_Regular.fntdata"/><Relationship Id="rId40" Type="http://schemas.openxmlformats.org/officeDocument/2006/relationships/font" Target="fonts/Font_10_Inter_Bold.fntdata"/><Relationship Id="rId41" Type="http://schemas.openxmlformats.org/officeDocument/2006/relationships/font" Target="fonts/Font_11_Inter_Italic.fntdata"/><Relationship Id="rId42" Type="http://schemas.openxmlformats.org/officeDocument/2006/relationships/font" Target="fonts/Font_12_FreeSans_Regular.fntdata"/><Relationship Id="rId43" Type="http://schemas.openxmlformats.org/officeDocument/2006/relationships/font" Target="fonts/Font_13_FreeSans_Bold.fntdata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39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3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9261736-9F58-44E8-B2DD-1367BC1C7A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E16942-FED2-487F-9A3D-4AACD38F478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A5BF2B-1F92-4192-AE9D-440E00CBC2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537973-5419-4EBA-B8F1-F796FC90FB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109DEF-C538-4D26-8741-28534DE619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7DD394-F131-49E7-B6BF-50E01F0D43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AEE277-5795-48AF-A2FB-9A0E9779FE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D11825-F7B2-4C83-A106-848C2E7A543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DAC370-E5F7-4533-867F-7CAF5B40DE2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1EC9B9-4E78-4914-96F2-EBB0B7702C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C8D667-95CB-4671-A6F1-38159728EE5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299018-4CC5-4831-9FCC-A760297312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2C9E4-E6FF-40DE-8289-002E81595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  <p:sldLayoutId id="2147483652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4"/>
    <p:sldLayoutId id="2147483655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  <p:sldLayoutId id="2147483662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4"/>
    <p:sldLayoutId id="2147483665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  <p:sldLayoutId id="2147483670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4"/>
    <p:sldLayoutId id="2147483673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  <p:sldLayoutId id="2147483676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4"/>
    <p:sldLayoutId id="2147483679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  <p:sldLayoutId id="2147483682" r:id="rId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  <p:sldLayoutId id="214748368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  <p:sldLayoutId id="2147483688" r:id="rId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99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9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9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28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7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2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77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1"/>
          </p:nvPr>
        </p:nvSpPr>
        <p:spPr>
          <a:xfrm>
            <a:off x="457200" y="4685760"/>
            <a:ext cx="2130120" cy="35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2"/>
          </p:nvPr>
        </p:nvSpPr>
        <p:spPr>
          <a:xfrm>
            <a:off x="3126960" y="4685760"/>
            <a:ext cx="2898360" cy="35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3"/>
          </p:nvPr>
        </p:nvSpPr>
        <p:spPr>
          <a:xfrm>
            <a:off x="6555960" y="4685760"/>
            <a:ext cx="2130120" cy="35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D5A840B-EF8B-4995-8C2D-6DA32046E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6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22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4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9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COURSE: CSE0613121</a:t>
            </a:r>
            <a:br>
              <a:rPr sz="399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OBJECT ORIENTED PROGRAMMING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"/>
          <p:cNvGrpSpPr/>
          <p:nvPr/>
        </p:nvGrpSpPr>
        <p:grpSpPr>
          <a:xfrm>
            <a:off x="7102800" y="1065600"/>
            <a:ext cx="1814040" cy="1008000"/>
            <a:chOff x="7102800" y="1065600"/>
            <a:chExt cx="1814040" cy="1008000"/>
          </a:xfrm>
        </p:grpSpPr>
        <p:sp>
          <p:nvSpPr>
            <p:cNvPr id="149" name=""/>
            <p:cNvSpPr/>
            <p:nvPr/>
          </p:nvSpPr>
          <p:spPr>
            <a:xfrm>
              <a:off x="7301520" y="1065600"/>
              <a:ext cx="1415880" cy="614160"/>
            </a:xfrm>
            <a:custGeom>
              <a:avLst/>
              <a:gdLst/>
              <a:ahLst/>
              <a:rect l="0" t="0" r="r" b="b"/>
              <a:pathLst>
                <a:path w="3933" h="1706">
                  <a:moveTo>
                    <a:pt x="0" y="508"/>
                  </a:moveTo>
                  <a:cubicBezTo>
                    <a:pt x="656" y="338"/>
                    <a:pt x="1311" y="169"/>
                    <a:pt x="1967" y="0"/>
                  </a:cubicBezTo>
                  <a:cubicBezTo>
                    <a:pt x="2623" y="169"/>
                    <a:pt x="3278" y="338"/>
                    <a:pt x="3933" y="508"/>
                  </a:cubicBezTo>
                  <a:cubicBezTo>
                    <a:pt x="3278" y="907"/>
                    <a:pt x="2623" y="1306"/>
                    <a:pt x="1967" y="1706"/>
                  </a:cubicBezTo>
                  <a:cubicBezTo>
                    <a:pt x="1311" y="1306"/>
                    <a:pt x="656" y="907"/>
                    <a:pt x="0" y="508"/>
                  </a:cubicBez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8010000" y="1248480"/>
              <a:ext cx="906840" cy="825120"/>
            </a:xfrm>
            <a:custGeom>
              <a:avLst/>
              <a:gdLst/>
              <a:ahLst/>
              <a:rect l="0" t="0" r="r" b="b"/>
              <a:pathLst>
                <a:path w="2519" h="2292">
                  <a:moveTo>
                    <a:pt x="1967" y="0"/>
                  </a:moveTo>
                  <a:cubicBezTo>
                    <a:pt x="1310" y="399"/>
                    <a:pt x="655" y="799"/>
                    <a:pt x="0" y="1197"/>
                  </a:cubicBezTo>
                  <a:cubicBezTo>
                    <a:pt x="0" y="1563"/>
                    <a:pt x="0" y="1928"/>
                    <a:pt x="0" y="2292"/>
                  </a:cubicBezTo>
                  <a:cubicBezTo>
                    <a:pt x="839" y="1782"/>
                    <a:pt x="2519" y="796"/>
                    <a:pt x="2519" y="796"/>
                  </a:cubicBezTo>
                  <a:cubicBezTo>
                    <a:pt x="2519" y="796"/>
                    <a:pt x="2151" y="253"/>
                    <a:pt x="1967" y="0"/>
                  </a:cubicBezTo>
                  <a:close/>
                </a:path>
              </a:pathLst>
            </a:custGeom>
            <a:solidFill>
              <a:srgbClr val="CCCCCC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102800" y="1248480"/>
              <a:ext cx="907200" cy="825120"/>
            </a:xfrm>
            <a:custGeom>
              <a:avLst/>
              <a:gdLst/>
              <a:ahLst/>
              <a:rect l="0" t="0" r="r" b="b"/>
              <a:pathLst>
                <a:path w="2520" h="2292">
                  <a:moveTo>
                    <a:pt x="552" y="0"/>
                  </a:moveTo>
                  <a:cubicBezTo>
                    <a:pt x="368" y="253"/>
                    <a:pt x="0" y="796"/>
                    <a:pt x="0" y="796"/>
                  </a:cubicBezTo>
                  <a:cubicBezTo>
                    <a:pt x="0" y="796"/>
                    <a:pt x="1679" y="1782"/>
                    <a:pt x="2520" y="2292"/>
                  </a:cubicBezTo>
                  <a:cubicBezTo>
                    <a:pt x="2520" y="1928"/>
                    <a:pt x="2520" y="1563"/>
                    <a:pt x="2520" y="1197"/>
                  </a:cubicBezTo>
                  <a:cubicBezTo>
                    <a:pt x="1864" y="799"/>
                    <a:pt x="1209" y="399"/>
                    <a:pt x="552" y="0"/>
                  </a:cubicBezTo>
                  <a:close/>
                </a:path>
              </a:pathLst>
            </a:custGeom>
            <a:solidFill>
              <a:srgbClr val="EEEEEE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"/>
          <p:cNvGrpSpPr/>
          <p:nvPr/>
        </p:nvGrpSpPr>
        <p:grpSpPr>
          <a:xfrm>
            <a:off x="7322040" y="851400"/>
            <a:ext cx="1375200" cy="788040"/>
            <a:chOff x="7322040" y="851400"/>
            <a:chExt cx="1375200" cy="788040"/>
          </a:xfrm>
        </p:grpSpPr>
        <p:sp>
          <p:nvSpPr>
            <p:cNvPr id="153" name=""/>
            <p:cNvSpPr/>
            <p:nvPr/>
          </p:nvSpPr>
          <p:spPr>
            <a:xfrm>
              <a:off x="7511400" y="851400"/>
              <a:ext cx="997200" cy="414000"/>
            </a:xfrm>
            <a:custGeom>
              <a:avLst/>
              <a:gdLst/>
              <a:ahLst/>
              <a:rect l="0" t="0" r="r" b="b"/>
              <a:pathLst>
                <a:path w="2770" h="1150">
                  <a:moveTo>
                    <a:pt x="0" y="308"/>
                  </a:moveTo>
                  <a:cubicBezTo>
                    <a:pt x="462" y="204"/>
                    <a:pt x="923" y="103"/>
                    <a:pt x="1385" y="0"/>
                  </a:cubicBezTo>
                  <a:cubicBezTo>
                    <a:pt x="1846" y="103"/>
                    <a:pt x="2308" y="204"/>
                    <a:pt x="2770" y="308"/>
                  </a:cubicBezTo>
                  <a:cubicBezTo>
                    <a:pt x="2308" y="589"/>
                    <a:pt x="1846" y="870"/>
                    <a:pt x="1385" y="1150"/>
                  </a:cubicBezTo>
                  <a:cubicBezTo>
                    <a:pt x="923" y="870"/>
                    <a:pt x="462" y="589"/>
                    <a:pt x="0" y="308"/>
                  </a:cubicBez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7322040" y="961920"/>
              <a:ext cx="687600" cy="677520"/>
            </a:xfrm>
            <a:custGeom>
              <a:avLst/>
              <a:gdLst/>
              <a:ahLst/>
              <a:rect l="0" t="0" r="r" b="b"/>
              <a:pathLst>
                <a:path w="1910" h="1882">
                  <a:moveTo>
                    <a:pt x="524" y="0"/>
                  </a:moveTo>
                  <a:cubicBezTo>
                    <a:pt x="350" y="239"/>
                    <a:pt x="175" y="479"/>
                    <a:pt x="0" y="718"/>
                  </a:cubicBezTo>
                  <a:cubicBezTo>
                    <a:pt x="637" y="1107"/>
                    <a:pt x="1274" y="1494"/>
                    <a:pt x="1910" y="1882"/>
                  </a:cubicBezTo>
                  <a:cubicBezTo>
                    <a:pt x="1910" y="1536"/>
                    <a:pt x="1910" y="1190"/>
                    <a:pt x="1910" y="844"/>
                  </a:cubicBezTo>
                  <a:cubicBezTo>
                    <a:pt x="1449" y="562"/>
                    <a:pt x="987" y="281"/>
                    <a:pt x="524" y="0"/>
                  </a:cubicBezTo>
                  <a:close/>
                </a:path>
              </a:pathLst>
            </a:custGeom>
            <a:solidFill>
              <a:srgbClr val="DDDDDD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8009640" y="961920"/>
              <a:ext cx="687600" cy="677520"/>
            </a:xfrm>
            <a:custGeom>
              <a:avLst/>
              <a:gdLst/>
              <a:ahLst/>
              <a:rect l="0" t="0" r="r" b="b"/>
              <a:pathLst>
                <a:path w="1910" h="1882">
                  <a:moveTo>
                    <a:pt x="1384" y="0"/>
                  </a:moveTo>
                  <a:cubicBezTo>
                    <a:pt x="923" y="281"/>
                    <a:pt x="462" y="562"/>
                    <a:pt x="0" y="844"/>
                  </a:cubicBezTo>
                  <a:cubicBezTo>
                    <a:pt x="0" y="1190"/>
                    <a:pt x="0" y="1536"/>
                    <a:pt x="0" y="1882"/>
                  </a:cubicBezTo>
                  <a:cubicBezTo>
                    <a:pt x="637" y="1494"/>
                    <a:pt x="1273" y="1107"/>
                    <a:pt x="1910" y="718"/>
                  </a:cubicBezTo>
                  <a:cubicBezTo>
                    <a:pt x="1734" y="479"/>
                    <a:pt x="1559" y="239"/>
                    <a:pt x="1384" y="0"/>
                  </a:cubicBezTo>
                  <a:close/>
                </a:path>
              </a:pathLst>
            </a:custGeom>
            <a:solidFill>
              <a:srgbClr val="B2B2B2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"/>
          <p:cNvGrpSpPr/>
          <p:nvPr/>
        </p:nvGrpSpPr>
        <p:grpSpPr>
          <a:xfrm>
            <a:off x="7531920" y="604800"/>
            <a:ext cx="956160" cy="619920"/>
            <a:chOff x="7531920" y="604800"/>
            <a:chExt cx="956160" cy="619920"/>
          </a:xfrm>
        </p:grpSpPr>
        <p:sp>
          <p:nvSpPr>
            <p:cNvPr id="157" name=""/>
            <p:cNvSpPr/>
            <p:nvPr/>
          </p:nvSpPr>
          <p:spPr>
            <a:xfrm>
              <a:off x="7720560" y="604800"/>
              <a:ext cx="578520" cy="246240"/>
            </a:xfrm>
            <a:custGeom>
              <a:avLst/>
              <a:gdLst/>
              <a:ahLst/>
              <a:rect l="0" t="0" r="r" b="b"/>
              <a:pathLst>
                <a:path w="1607" h="684">
                  <a:moveTo>
                    <a:pt x="0" y="194"/>
                  </a:moveTo>
                  <a:cubicBezTo>
                    <a:pt x="269" y="130"/>
                    <a:pt x="535" y="64"/>
                    <a:pt x="804" y="0"/>
                  </a:cubicBezTo>
                  <a:cubicBezTo>
                    <a:pt x="1071" y="64"/>
                    <a:pt x="1339" y="130"/>
                    <a:pt x="1607" y="194"/>
                  </a:cubicBezTo>
                  <a:cubicBezTo>
                    <a:pt x="1339" y="357"/>
                    <a:pt x="1071" y="521"/>
                    <a:pt x="804" y="684"/>
                  </a:cubicBezTo>
                  <a:cubicBezTo>
                    <a:pt x="535" y="521"/>
                    <a:pt x="269" y="357"/>
                    <a:pt x="0" y="194"/>
                  </a:cubicBezTo>
                  <a:close/>
                </a:path>
              </a:pathLst>
            </a:custGeom>
            <a:solidFill>
              <a:srgbClr val="EA7500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7531920" y="674640"/>
              <a:ext cx="478080" cy="550080"/>
            </a:xfrm>
            <a:custGeom>
              <a:avLst/>
              <a:gdLst/>
              <a:ahLst/>
              <a:rect l="0" t="0" r="r" b="b"/>
              <a:pathLst>
                <a:path w="1328" h="1528">
                  <a:moveTo>
                    <a:pt x="524" y="0"/>
                  </a:moveTo>
                  <a:cubicBezTo>
                    <a:pt x="350" y="239"/>
                    <a:pt x="175" y="479"/>
                    <a:pt x="0" y="718"/>
                  </a:cubicBezTo>
                  <a:cubicBezTo>
                    <a:pt x="443" y="989"/>
                    <a:pt x="885" y="1257"/>
                    <a:pt x="1328" y="1528"/>
                  </a:cubicBezTo>
                  <a:cubicBezTo>
                    <a:pt x="1328" y="1182"/>
                    <a:pt x="1328" y="836"/>
                    <a:pt x="1328" y="490"/>
                  </a:cubicBezTo>
                  <a:cubicBezTo>
                    <a:pt x="1060" y="327"/>
                    <a:pt x="793" y="163"/>
                    <a:pt x="524" y="0"/>
                  </a:cubicBezTo>
                  <a:close/>
                </a:path>
              </a:pathLst>
            </a:custGeom>
            <a:solidFill>
              <a:srgbClr val="FFB66C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8010000" y="674640"/>
              <a:ext cx="478080" cy="550080"/>
            </a:xfrm>
            <a:custGeom>
              <a:avLst/>
              <a:gdLst/>
              <a:ahLst/>
              <a:rect l="0" t="0" r="r" b="b"/>
              <a:pathLst>
                <a:path w="1328" h="1528">
                  <a:moveTo>
                    <a:pt x="803" y="0"/>
                  </a:moveTo>
                  <a:cubicBezTo>
                    <a:pt x="535" y="163"/>
                    <a:pt x="269" y="327"/>
                    <a:pt x="0" y="490"/>
                  </a:cubicBezTo>
                  <a:cubicBezTo>
                    <a:pt x="0" y="836"/>
                    <a:pt x="0" y="1182"/>
                    <a:pt x="0" y="1528"/>
                  </a:cubicBezTo>
                  <a:cubicBezTo>
                    <a:pt x="443" y="1257"/>
                    <a:pt x="885" y="989"/>
                    <a:pt x="1328" y="718"/>
                  </a:cubicBezTo>
                  <a:cubicBezTo>
                    <a:pt x="1153" y="479"/>
                    <a:pt x="978" y="239"/>
                    <a:pt x="803" y="0"/>
                  </a:cubicBezTo>
                  <a:close/>
                </a:path>
              </a:pathLst>
            </a:cu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0" name=""/>
          <p:cNvGrpSpPr/>
          <p:nvPr/>
        </p:nvGrpSpPr>
        <p:grpSpPr>
          <a:xfrm>
            <a:off x="7740720" y="278280"/>
            <a:ext cx="537840" cy="532080"/>
            <a:chOff x="7740720" y="278280"/>
            <a:chExt cx="537840" cy="532080"/>
          </a:xfrm>
        </p:grpSpPr>
        <p:sp>
          <p:nvSpPr>
            <p:cNvPr id="161" name=""/>
            <p:cNvSpPr/>
            <p:nvPr/>
          </p:nvSpPr>
          <p:spPr>
            <a:xfrm>
              <a:off x="7740720" y="278280"/>
              <a:ext cx="268920" cy="532080"/>
            </a:xfrm>
            <a:custGeom>
              <a:avLst/>
              <a:gdLst/>
              <a:ahLst/>
              <a:rect l="0" t="0" r="r" b="b"/>
              <a:pathLst>
                <a:path w="747" h="1478">
                  <a:moveTo>
                    <a:pt x="747" y="0"/>
                  </a:moveTo>
                  <a:cubicBezTo>
                    <a:pt x="498" y="342"/>
                    <a:pt x="249" y="682"/>
                    <a:pt x="0" y="1024"/>
                  </a:cubicBezTo>
                  <a:cubicBezTo>
                    <a:pt x="249" y="1175"/>
                    <a:pt x="498" y="1327"/>
                    <a:pt x="747" y="1478"/>
                  </a:cubicBezTo>
                  <a:cubicBezTo>
                    <a:pt x="747" y="985"/>
                    <a:pt x="747" y="493"/>
                    <a:pt x="747" y="0"/>
                  </a:cubicBezTo>
                  <a:close/>
                </a:path>
              </a:pathLst>
            </a:custGeom>
            <a:solidFill>
              <a:srgbClr val="729FCF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8009640" y="278280"/>
              <a:ext cx="268920" cy="532080"/>
            </a:xfrm>
            <a:custGeom>
              <a:avLst/>
              <a:gdLst/>
              <a:ahLst/>
              <a:rect l="0" t="0" r="r" b="b"/>
              <a:pathLst>
                <a:path w="747" h="1478">
                  <a:moveTo>
                    <a:pt x="0" y="0"/>
                  </a:moveTo>
                  <a:cubicBezTo>
                    <a:pt x="0" y="493"/>
                    <a:pt x="0" y="985"/>
                    <a:pt x="0" y="1478"/>
                  </a:cubicBezTo>
                  <a:cubicBezTo>
                    <a:pt x="249" y="1327"/>
                    <a:pt x="497" y="1175"/>
                    <a:pt x="747" y="1024"/>
                  </a:cubicBezTo>
                  <a:cubicBezTo>
                    <a:pt x="497" y="682"/>
                    <a:pt x="249" y="342"/>
                    <a:pt x="0" y="0"/>
                  </a:cubicBezTo>
                  <a:close/>
                </a:path>
              </a:pathLst>
            </a:custGeom>
            <a:solidFill>
              <a:srgbClr val="3465A4"/>
            </a:solid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6840" y="1203120"/>
            <a:ext cx="4016160" cy="1422720"/>
          </a:xfrm>
          <a:prstGeom prst="rect">
            <a:avLst/>
          </a:prstGeom>
          <a:noFill/>
          <a:ln w="0">
            <a:noFill/>
          </a:ln>
          <a:effectLst>
            <a:outerShdw dist="0" dir="0" blurRad="127080" rotWithShape="0">
              <a:srgbClr val="BE480A"/>
            </a:outerShdw>
          </a:effectLst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284"/>
              </a:spcBef>
              <a:buNone/>
            </a:pPr>
            <a:r>
              <a:rPr lang="en-US" sz="2900" b="1" i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Instructors</a:t>
            </a:r>
            <a:r>
              <a:rPr lang="en-US" sz="29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: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Safayet Hossain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Rafat Ara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769280" y="2823480"/>
            <a:ext cx="4015800" cy="2982960"/>
          </a:xfrm>
          <a:prstGeom prst="rect">
            <a:avLst/>
          </a:prstGeom>
          <a:pattFill prst="lgGrid">
            <a:fgClr>
              <a:srgbClr val="00A933"/>
            </a:fgClr>
            <a:bgClr>
              <a:srgbClr val="FFFFFF">
                <a:alpha val="0"/>
              </a:srgbClr>
            </a:bgClr>
          </a:pattFill>
          <a:ln w="29160">
            <a:noFill/>
          </a:ln>
          <a:effectLst>
            <a:glow rad="25560">
              <a:srgbClr val="7B3D00">
                <a:alpha val="50000"/>
              </a:srgbClr>
            </a:glow>
            <a:outerShdw dist="0" dir="0" blurRad="254160" rotWithShape="0">
              <a:srgbClr val="C9211E"/>
            </a:outerShdw>
            <a:softEdge rad="25560"/>
          </a:effectLst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284"/>
              </a:spcBef>
              <a:buNone/>
            </a:pPr>
            <a:r>
              <a:rPr lang="en-US" sz="2900" b="1" i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Presentation topic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: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 algn="l">
              <a:spcBef>
                <a:spcPts val="1026"/>
              </a:spcBef>
              <a:buNone/>
            </a:pP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 </a:t>
            </a: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	</a:t>
            </a: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Bank Management   </a:t>
            </a: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	</a:t>
            </a: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	</a:t>
            </a:r>
            <a:r>
              <a:rPr lang="en-US" sz="2500" b="1" u="none" strike="noStrike">
                <a:solidFill>
                  <a:srgbClr val="ED4C05"/>
                </a:solidFill>
                <a:effectLst/>
                <a:uFillTx/>
                <a:latin typeface="Arial"/>
              </a:rPr>
              <a:t>System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105080" cy="2215800"/>
          </a:xfrm>
          <a:prstGeom prst="rect">
            <a:avLst/>
          </a:prstGeom>
          <a:noFill/>
          <a:ln w="0">
            <a:noFill/>
          </a:ln>
          <a:effectLst>
            <a:outerShdw dist="0" dir="0" blurRad="254160" rotWithShape="0">
              <a:srgbClr val="000000"/>
            </a:outerShdw>
          </a:effectLst>
        </p:spPr>
        <p:txBody>
          <a:bodyPr lIns="0" tIns="0" rIns="0" bIns="0" anchor="t">
            <a:normAutofit fontScale="85000" lnSpcReduction="19999"/>
          </a:bodyPr>
          <a:p>
            <a:pPr indent="0" algn="l">
              <a:spcBef>
                <a:spcPts val="1284"/>
              </a:spcBef>
              <a:buNone/>
            </a:pPr>
            <a:r>
              <a:rPr lang="en-US" sz="2900" b="1" i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Team Swans</a:t>
            </a:r>
            <a:r>
              <a:rPr lang="en-US" sz="29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: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Kazi Rabit Jahir          (1006)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Jahid Hasan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(1005)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Fozlay Elahi Nayeem (1028)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284"/>
              </a:spcBef>
              <a:buNone/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→ Section: 2A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391720" y="3406320"/>
            <a:ext cx="622080" cy="326160"/>
          </a:xfrm>
          <a:prstGeom prst="rightArrow">
            <a:avLst>
              <a:gd name="adj1" fmla="val 50000"/>
              <a:gd name="adj2" fmla="val 4768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strips dir="ld"/>
      </p:transition>
    </mc:Choice>
    <mc:Fallback>
      <p:transition spd="slow">
        <p:strips dir="ld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496080" y="1701720"/>
            <a:ext cx="4722480" cy="13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Bank Project - Comprehensive Analysis Report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745560" y="3087360"/>
            <a:ext cx="4223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A Java-based Banking System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/>
          <p:cNvPicPr/>
          <p:nvPr/>
        </p:nvPicPr>
        <p:blipFill>
          <a:blip r:embed="rId1"/>
          <a:stretch/>
        </p:blipFill>
        <p:spPr>
          <a:xfrm>
            <a:off x="6629400" y="11880"/>
            <a:ext cx="2552400" cy="513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Image 2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177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7"/>
          <p:cNvSpPr/>
          <p:nvPr/>
        </p:nvSpPr>
        <p:spPr>
          <a:xfrm>
            <a:off x="496080" y="2903040"/>
            <a:ext cx="3543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Project Overview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496080" y="3558600"/>
            <a:ext cx="8151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 Java-based banking system that allows users to create accounts, login, and manage their finances including deposits, withdrawals, loans, and account details.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2"/>
          <a:stretch/>
        </p:blipFill>
        <p:spPr>
          <a:xfrm>
            <a:off x="7772400" y="3772080"/>
            <a:ext cx="1371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3"/>
          <a:stretch/>
        </p:blipFill>
        <p:spPr>
          <a:xfrm>
            <a:off x="360" y="0"/>
            <a:ext cx="9143640" cy="150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4"/>
          <a:stretch/>
        </p:blipFill>
        <p:spPr>
          <a:xfrm>
            <a:off x="0" y="1502280"/>
            <a:ext cx="914400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96080" y="1024200"/>
            <a:ext cx="3543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Packages Used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496080" y="18216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Core Java Packages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496080" y="2184840"/>
            <a:ext cx="3902760" cy="18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java.text.NumberFormat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java.util.Locale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java.util.Scanner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java.util.HashMap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java.io.FileWriter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java.io.BufferedReader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java.io.FileReader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4749840" y="18216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Custom Packages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4749840" y="2184840"/>
            <a:ext cx="390276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pages (Pages.java)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ui (UI.java)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users (Login.java, Creating.java, UsersStorage.java)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/>
          <p:cNvPicPr/>
          <p:nvPr/>
        </p:nvPicPr>
        <p:blipFill>
          <a:blip r:embed="rId1"/>
          <a:stretch/>
        </p:blipFill>
        <p:spPr>
          <a:xfrm>
            <a:off x="7243560" y="0"/>
            <a:ext cx="1900440" cy="10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"/>
          <p:cNvPicPr/>
          <p:nvPr/>
        </p:nvPicPr>
        <p:blipFill>
          <a:blip r:embed="rId2"/>
          <a:stretch/>
        </p:blipFill>
        <p:spPr>
          <a:xfrm>
            <a:off x="8001000" y="4000680"/>
            <a:ext cx="114300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26240" y="368280"/>
            <a:ext cx="3045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951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Project Architecture</a:t>
            </a:r>
            <a:endParaRPr lang="en-US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26240" y="790560"/>
            <a:ext cx="24361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LOGIN LOOP (Initial)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426240" y="1252080"/>
            <a:ext cx="829080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 selects Login/Create/Exit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Validates credentials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Loop breaks after successful login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Uses switch-case navigation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26240" y="2243880"/>
            <a:ext cx="35028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USER HUB LOOP (After Login)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426240" y="2705400"/>
            <a:ext cx="8290800" cy="6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Provides 8 operations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Runs until Exit selected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Uses switch-case routing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426240" y="3479040"/>
            <a:ext cx="24361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Data Persistence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426240" y="3940560"/>
            <a:ext cx="829080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Users stored in HashMap and persisted to users.txt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Format: username,password,accountType,mobile,balance,loan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Loads on startup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Saves after updates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"/>
          <p:cNvPicPr/>
          <p:nvPr/>
        </p:nvPicPr>
        <p:blipFill>
          <a:blip r:embed="rId1"/>
          <a:stretch/>
        </p:blipFill>
        <p:spPr>
          <a:xfrm>
            <a:off x="7772400" y="3772080"/>
            <a:ext cx="1371600" cy="137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496080" y="604080"/>
            <a:ext cx="3543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UI Utilities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6080" y="1330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"/>
          <p:cNvSpPr/>
          <p:nvPr/>
        </p:nvSpPr>
        <p:spPr>
          <a:xfrm>
            <a:off x="1027800" y="133056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clearScreen()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1027800" y="1637280"/>
            <a:ext cx="345528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Clears console for clean display, Platform-aware (Windows: cls, Linux/Mac: ANSI codes), Called before each menu.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60560" y="1330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3"/>
          <p:cNvSpPr/>
          <p:nvPr/>
        </p:nvSpPr>
        <p:spPr>
          <a:xfrm>
            <a:off x="5191920" y="133056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pause(Scanner sc)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191920" y="1637280"/>
            <a:ext cx="34552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Waits for Enter key, Auto-clears screen after pause, Used between menu transitions.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496080" y="25300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Color Formatting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496080" y="3097080"/>
            <a:ext cx="8151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ANSI codes are used for color formatting: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96080" y="3483360"/>
            <a:ext cx="8151480" cy="10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00FF0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0FF00"/>
                </a:solidFill>
                <a:effectLst/>
                <a:uFillTx/>
                <a:latin typeface="Inter"/>
                <a:ea typeface="Inter"/>
              </a:rPr>
              <a:t>Green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(success)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FF000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Inter"/>
                <a:ea typeface="Inter"/>
              </a:rPr>
              <a:t>Red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(error)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0000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000FF"/>
                </a:solidFill>
                <a:effectLst/>
                <a:uFillTx/>
                <a:latin typeface="Inter"/>
                <a:ea typeface="Inter"/>
              </a:rPr>
              <a:t>Blue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(balance)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1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Bold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(emphasis)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"/>
          <p:cNvPicPr/>
          <p:nvPr/>
        </p:nvPicPr>
        <p:blipFill>
          <a:blip r:embed="rId5"/>
          <a:stretch/>
        </p:blipFill>
        <p:spPr>
          <a:xfrm>
            <a:off x="7772400" y="3772080"/>
            <a:ext cx="1371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"/>
          <p:cNvPicPr/>
          <p:nvPr/>
        </p:nvPicPr>
        <p:blipFill>
          <a:blip r:embed="rId6"/>
          <a:stretch/>
        </p:blipFill>
        <p:spPr>
          <a:xfrm>
            <a:off x="5257800" y="2432520"/>
            <a:ext cx="3886200" cy="271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"/>
          <p:cNvPicPr/>
          <p:nvPr/>
        </p:nvPicPr>
        <p:blipFill>
          <a:blip r:embed="rId7"/>
          <a:stretch/>
        </p:blipFill>
        <p:spPr>
          <a:xfrm>
            <a:off x="8686800" y="4686480"/>
            <a:ext cx="4572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138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0"/>
          <p:cNvSpPr/>
          <p:nvPr/>
        </p:nvSpPr>
        <p:spPr>
          <a:xfrm>
            <a:off x="750960" y="1705320"/>
            <a:ext cx="3140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Core Classes Overview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750960" y="2181240"/>
            <a:ext cx="76417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This section provides a detailed look at the core Java classes that form the backbone of the banking system, outlining their primary responsibilities and method counts.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750960" y="2593800"/>
            <a:ext cx="3777480" cy="6321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875880" y="271908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Main.java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875880" y="2943720"/>
            <a:ext cx="35272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Entry point, manages LOGIN and USER HUB loops. (1 method)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4615200" y="2593800"/>
            <a:ext cx="3777480" cy="6321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4740120" y="271908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Pages.java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740120" y="2943720"/>
            <a:ext cx="35276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UI screen layouts. (5 methods)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750960" y="3313080"/>
            <a:ext cx="3777480" cy="6321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875880" y="343800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UI.java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875880" y="3663000"/>
            <a:ext cx="35272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Reusable utilities for display. (2 static methods)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4615200" y="3313080"/>
            <a:ext cx="3777480" cy="6321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4740120" y="343800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Login.java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4740120" y="3663000"/>
            <a:ext cx="352764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Authentication logic for user sign-in. (1 method)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750960" y="4032360"/>
            <a:ext cx="3777480" cy="79020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875880" y="415728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Creating.java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875880" y="4381920"/>
            <a:ext cx="35272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Account creation functionality. (1 method)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4615200" y="4032360"/>
            <a:ext cx="3777480" cy="790200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4740120" y="4157280"/>
            <a:ext cx="1384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UsersStorage.java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4740120" y="4381920"/>
            <a:ext cx="352764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199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Core data manager for user information and persistence. (10 methods)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"/>
          <p:cNvPicPr/>
          <p:nvPr/>
        </p:nvPicPr>
        <p:blipFill>
          <a:blip r:embed="rId2"/>
          <a:stretch/>
        </p:blipFill>
        <p:spPr>
          <a:xfrm>
            <a:off x="8572320" y="4572000"/>
            <a:ext cx="57168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/>
          <p:cNvPicPr/>
          <p:nvPr/>
        </p:nvPicPr>
        <p:blipFill>
          <a:blip r:embed="rId3"/>
          <a:stretch/>
        </p:blipFill>
        <p:spPr>
          <a:xfrm>
            <a:off x="8022600" y="4822560"/>
            <a:ext cx="549720" cy="32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21"/>
          <p:cNvSpPr/>
          <p:nvPr/>
        </p:nvSpPr>
        <p:spPr>
          <a:xfrm>
            <a:off x="426240" y="389160"/>
            <a:ext cx="65347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951"/>
              </a:lnSpc>
              <a:tabLst>
                <a:tab pos="0" algn="l"/>
              </a:tabLst>
            </a:pPr>
            <a:r>
              <a:rPr lang="en-US" sz="2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UsersStorage.java - Core Data Management</a:t>
            </a:r>
            <a:endParaRPr lang="en-US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426240" y="979200"/>
            <a:ext cx="4092840" cy="377460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5"/>
          <p:cNvSpPr/>
          <p:nvPr/>
        </p:nvSpPr>
        <p:spPr>
          <a:xfrm>
            <a:off x="440640" y="993600"/>
            <a:ext cx="4064400" cy="365040"/>
          </a:xfrm>
          <a:prstGeom prst="roundRect">
            <a:avLst>
              <a:gd name="adj" fmla="val 9310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2"/>
          <p:cNvSpPr/>
          <p:nvPr/>
        </p:nvSpPr>
        <p:spPr>
          <a:xfrm>
            <a:off x="2381760" y="1059840"/>
            <a:ext cx="182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562320" y="1463760"/>
            <a:ext cx="785880" cy="217800"/>
          </a:xfrm>
          <a:prstGeom prst="roundRect">
            <a:avLst>
              <a:gd name="adj" fmla="val 18775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635400" y="1500120"/>
            <a:ext cx="6397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INNER CLASS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562320" y="1723680"/>
            <a:ext cx="182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User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5"/>
          <p:cNvSpPr/>
          <p:nvPr/>
        </p:nvSpPr>
        <p:spPr>
          <a:xfrm>
            <a:off x="562320" y="2014920"/>
            <a:ext cx="3820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Defines the structure for individual user accounts.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562320" y="2258640"/>
            <a:ext cx="382068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username: String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password: String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accountType: String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mobile: String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balance: Double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loan: Double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4624200" y="979200"/>
            <a:ext cx="4092840" cy="377460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4400">
            <a:solidFill>
              <a:srgbClr val="C0C1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4638600" y="993600"/>
            <a:ext cx="4064400" cy="365040"/>
          </a:xfrm>
          <a:prstGeom prst="roundRect">
            <a:avLst>
              <a:gd name="adj" fmla="val 9310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6579720" y="1059840"/>
            <a:ext cx="182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4760280" y="1463760"/>
            <a:ext cx="746280" cy="217800"/>
          </a:xfrm>
          <a:prstGeom prst="roundRect">
            <a:avLst>
              <a:gd name="adj" fmla="val 18775"/>
            </a:avLst>
          </a:prstGeom>
          <a:solidFill>
            <a:srgbClr val="DAD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8"/>
          <p:cNvSpPr/>
          <p:nvPr/>
        </p:nvSpPr>
        <p:spPr>
          <a:xfrm>
            <a:off x="4833360" y="1500120"/>
            <a:ext cx="6001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MAIN CLASS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9"/>
          <p:cNvSpPr/>
          <p:nvPr/>
        </p:nvSpPr>
        <p:spPr>
          <a:xfrm>
            <a:off x="4760280" y="1723680"/>
            <a:ext cx="182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2525"/>
                </a:solidFill>
                <a:effectLst/>
                <a:uFillTx/>
                <a:latin typeface="Inter Bold"/>
                <a:ea typeface="Inter Bold"/>
              </a:rPr>
              <a:t>UsersStorage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4760280" y="2014920"/>
            <a:ext cx="38206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Manages user data, persistence, and core banking operations.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1"/>
          <p:cNvSpPr/>
          <p:nvPr/>
        </p:nvSpPr>
        <p:spPr>
          <a:xfrm>
            <a:off x="4760280" y="2258640"/>
            <a:ext cx="3820680" cy="23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1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Field:</a:t>
            </a: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HashMap (stores user data in memory)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400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950" b="1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Public Methods (9):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saveToFile(): Persists user data to a file.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loadFromFile(): Loads user data from a file.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login(): Authenticates user credentials.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balance(): Retrieves a user's account balance.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loan(): Manages a user's loan information.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updateBalance(): Adjusts a user's account balance.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updateLoan(): Modifies a user's loan status/amount.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getUser(): Retrieves a specific user's details.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ts val="1400"/>
              </a:lnSpc>
              <a:buClr>
                <a:srgbClr val="272525"/>
              </a:buClr>
              <a:buFont typeface="OpenSymbol"/>
              <a:buChar char="◦"/>
            </a:pPr>
            <a:r>
              <a:rPr lang="en-US" sz="95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createUser(): Registers a new user account.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"/>
          <p:cNvPicPr/>
          <p:nvPr/>
        </p:nvPicPr>
        <p:blipFill>
          <a:blip r:embed="rId1"/>
          <a:stretch/>
        </p:blipFill>
        <p:spPr>
          <a:xfrm>
            <a:off x="8572320" y="4572000"/>
            <a:ext cx="57168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"/>
          <p:cNvPicPr/>
          <p:nvPr/>
        </p:nvPicPr>
        <p:blipFill>
          <a:blip r:embed="rId2"/>
          <a:stretch/>
        </p:blipFill>
        <p:spPr>
          <a:xfrm>
            <a:off x="8022600" y="4822560"/>
            <a:ext cx="549720" cy="32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102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0"/>
          <p:cNvSpPr/>
          <p:nvPr/>
        </p:nvSpPr>
        <p:spPr>
          <a:xfrm>
            <a:off x="1744560" y="1301400"/>
            <a:ext cx="280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File Persistence &amp; Data Flow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1744560" y="1576440"/>
            <a:ext cx="16387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599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FileWriter Usage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1744560" y="1852200"/>
            <a:ext cx="56548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FileWriter is used in UsersStorage.saveToFile()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Utilizes try-with-resources for efficient resource management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Overwrites users.txt on each save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Iterates through HashMap to save all user data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Each user's data is stored in a comma-separated format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1744560" y="2506680"/>
            <a:ext cx="21974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599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When saveToFile() is Called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1744560" y="2782440"/>
            <a:ext cx="56548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After account creation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After taking loan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After repaying loan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After withdrawal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After deposit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1744560" y="3436920"/>
            <a:ext cx="16387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599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Error Handling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1744560" y="3712680"/>
            <a:ext cx="56548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Catches IOException during file operations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Displays success/error messages to the user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744560" y="4007160"/>
            <a:ext cx="16387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599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Data Loading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1744560" y="4283280"/>
            <a:ext cx="56548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Uses BufferedReader and FileReader to read user data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Reads line-by-line from users.txt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Splits data by comma delimiter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Validates that each line contains 6 fields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79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6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Converts relevant fields to numeric types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"/>
          <p:cNvPicPr/>
          <p:nvPr/>
        </p:nvPicPr>
        <p:blipFill>
          <a:blip r:embed="rId2"/>
          <a:stretch/>
        </p:blipFill>
        <p:spPr>
          <a:xfrm>
            <a:off x="8001000" y="4000680"/>
            <a:ext cx="114300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496080" y="910800"/>
            <a:ext cx="4677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Key Features &amp; Constraints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96080" y="17082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Account Features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496080" y="2071440"/>
            <a:ext cx="2485800" cy="10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✅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Multiple account types (personal, saving, rich, wealthy)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✅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Account details stored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Inter"/>
                <a:ea typeface="Inter"/>
              </a:rPr>
              <a:t>✅</a:t>
            </a: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 All data persisted to text 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3333240" y="1708200"/>
            <a:ext cx="18270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Transaction Features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3333240" y="2071440"/>
            <a:ext cx="2485800" cy="18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Check Balance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2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Take Loan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3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Repay Loan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4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Withdraw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5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Deposit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6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View Details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AutoNum type="arabicPeriod" startAt="7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Transfer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6170040" y="17082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Validations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6170040" y="2071440"/>
            <a:ext cx="2485800" cy="21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Username (unique, non-empty)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Password (non-empty)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Mobile (digits only)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Account Type (4 valid types)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Loan Amount ($100-$50,000)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Withdrawal (maintains $100 minimum)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Deposit/Repay (no negatives)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"/>
          <p:cNvPicPr/>
          <p:nvPr/>
        </p:nvPicPr>
        <p:blipFill>
          <a:blip r:embed="rId1"/>
          <a:stretch/>
        </p:blipFill>
        <p:spPr>
          <a:xfrm>
            <a:off x="8001000" y="4000680"/>
            <a:ext cx="114300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496080" y="885960"/>
            <a:ext cx="5910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Project Strengths &amp; Improvements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496080" y="168336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Strengths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496080" y="204660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Clear separation of concerns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496080" y="208908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496080" y="232308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Persistent data storage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496080" y="236556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496080" y="259920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Input validation with regex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496080" y="264168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496080" y="287568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User-friendly with colored 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496080" y="291816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496080" y="315216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Error handling for file I/O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496080" y="319464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496080" y="3428280"/>
            <a:ext cx="39027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OpenSymbol"/>
              <a:buChar char="​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Try-with-resources for resource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496080" y="3470760"/>
            <a:ext cx="141480" cy="141480"/>
          </a:xfrm>
          <a:prstGeom prst="roundRect">
            <a:avLst>
              <a:gd name="adj" fmla="val 42002"/>
            </a:avLst>
          </a:prstGeom>
          <a:noFill/>
          <a:ln w="14400">
            <a:solidFill>
              <a:srgbClr val="4950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4749840" y="1683360"/>
            <a:ext cx="20509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Potential Improvements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4749840" y="2046600"/>
            <a:ext cx="3902760" cy="21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Transaction history/logging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Interest calculation for loans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Database instead of text file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Password encryption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User session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More robust error handling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749"/>
              </a:lnSpc>
              <a:buClr>
                <a:srgbClr val="272525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Deposit/Withdrawal history tracking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"/>
          <p:cNvPicPr/>
          <p:nvPr/>
        </p:nvPicPr>
        <p:blipFill>
          <a:blip r:embed="rId1"/>
          <a:stretch/>
        </p:blipFill>
        <p:spPr>
          <a:xfrm>
            <a:off x="8001000" y="4000680"/>
            <a:ext cx="1143000" cy="11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2800080" y="1483920"/>
            <a:ext cx="35438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3450"/>
              </a:lnSpc>
              <a:tabLst>
                <a:tab pos="0" algn="l"/>
              </a:tabLst>
            </a:pPr>
            <a:r>
              <a:rPr lang="en-US" sz="2750" b="1" u="none" strike="noStrike">
                <a:solidFill>
                  <a:srgbClr val="000000"/>
                </a:solidFill>
                <a:effectLst/>
                <a:uFillTx/>
                <a:latin typeface="Inter Bold"/>
                <a:ea typeface="Inter Bold"/>
              </a:rPr>
              <a:t>Summary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496080" y="2139480"/>
            <a:ext cx="815148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17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This comprehensive analysis report details a Java-based banking system with robust architecture, clear separation of concerns, and persistent data management. The system successfully implements core banking operations with proper validation, error handling, and user-friendly interfaces. With 19 total methods across 6 classes, the project demonstrates solid software engineering principles and provides a strong foundation for future enhancements.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496080" y="3206160"/>
            <a:ext cx="8151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17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72525"/>
                </a:solidFill>
                <a:effectLst/>
                <a:uFillTx/>
                <a:latin typeface="Inter"/>
                <a:ea typeface="Inter"/>
              </a:rPr>
              <a:t>Thank you for reviewing our project. We believe this system provides a robust and scalable foundation for all banking operations.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2026-05-12T07:21:51Z</dcterms:created>
  <dc:creator/>
  <dc:description/>
  <dc:language>en-US</dc:language>
  <cp:lastModifiedBy/>
  <dcterms:modified xsi:type="dcterms:W3CDTF">2026-05-13T14:07:55Z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